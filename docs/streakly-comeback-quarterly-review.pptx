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 b="1">
                <a:solidFill>
                  <a:srgbClr val="1E2761"/>
                </a:solidFill>
              </a:rPr>
              <a:t>Retention: Comeback vs. Control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Comeback</c:v>
                </c:pt>
              </c:strCache>
            </c:strRef>
          </c:tx>
          <c:spPr>
            <a:solidFill>
              <a:srgbClr val="FF6B4A"/>
            </a:solidFill>
          </c:spPr>
          <c:cat>
            <c:strRef>
              <c:f>Sheet1!$A$2:$A$3</c:f>
              <c:strCache>
                <c:ptCount val="2"/>
                <c:pt idx="0">
                  <c:v>Day-7</c:v>
                </c:pt>
                <c:pt idx="1">
                  <c:v>Day-30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76</c:v>
                </c:pt>
                <c:pt idx="1">
                  <c:v>36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Control</c:v>
                </c:pt>
              </c:strCache>
            </c:strRef>
          </c:tx>
          <c:spPr>
            <a:solidFill>
              <a:srgbClr val="B9C2D9"/>
            </a:solidFill>
          </c:spPr>
          <c:cat>
            <c:strRef>
              <c:f>Sheet1!$A$2:$A$3</c:f>
              <c:strCache>
                <c:ptCount val="2"/>
                <c:pt idx="0">
                  <c:v>Day-7</c:v>
                </c:pt>
                <c:pt idx="1">
                  <c:v>Day-30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46</c:v>
                </c:pt>
                <c:pt idx="1">
                  <c:v>22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100" b="1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DDDDD"/>
            </a:solidFill>
          </a:ln>
        </c:spPr>
        <c:txPr>
          <a:bodyPr/>
          <a:lstStyle/>
          <a:p>
            <a:pPr>
              <a:defRPr sz="1100">
                <a:solidFill>
                  <a:srgbClr val="6B728C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EEEEE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B728C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>
                <a:solidFill>
                  <a:srgbClr val="1E2761"/>
                </a:solidFill>
              </a:rPr>
              <a:t>Comeback Message Open Rate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Comeback</c:v>
                </c:pt>
              </c:strCache>
            </c:strRef>
          </c:tx>
          <c:spPr>
            <a:ln w="31750">
              <a:solidFill>
                <a:srgbClr val="FF6B4A"/>
              </a:solidFill>
            </a:ln>
          </c:spPr>
          <c:cat>
            <c:strRef>
              <c:f>Sheet1!$A$2:$A$5</c:f>
              <c:strCache>
                <c:ptCount val="4"/>
                <c:pt idx="0">
                  <c:v>Send 1</c:v>
                </c:pt>
                <c:pt idx="1">
                  <c:v>Send 2</c:v>
                </c:pt>
                <c:pt idx="2">
                  <c:v>Send 3</c:v>
                </c:pt>
                <c:pt idx="3">
                  <c:v>Send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28</c:v>
                </c:pt>
                <c:pt idx="1">
                  <c:v>38</c:v>
                </c:pt>
                <c:pt idx="2">
                  <c:v>46</c:v>
                </c:pt>
                <c:pt idx="3">
                  <c:v>56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Control</c:v>
                </c:pt>
              </c:strCache>
            </c:strRef>
          </c:tx>
          <c:spPr>
            <a:ln w="31750">
              <a:solidFill>
                <a:srgbClr val="B9C2D9"/>
              </a:solidFill>
            </a:ln>
          </c:spPr>
          <c:cat>
            <c:strRef>
              <c:f>Sheet1!$A$2:$A$5</c:f>
              <c:strCache>
                <c:ptCount val="4"/>
                <c:pt idx="0">
                  <c:v>Send 1</c:v>
                </c:pt>
                <c:pt idx="1">
                  <c:v>Send 2</c:v>
                </c:pt>
                <c:pt idx="2">
                  <c:v>Send 3</c:v>
                </c:pt>
                <c:pt idx="3">
                  <c:v>Send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</c:v>
                </c:pt>
                <c:pt idx="1">
                  <c:v>4</c:v>
                </c:pt>
                <c:pt idx="2">
                  <c:v>4</c:v>
                </c:pt>
                <c:pt idx="3">
                  <c:v>4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DDDDD"/>
            </a:solidFill>
          </a:ln>
        </c:spPr>
        <c:txPr>
          <a:bodyPr/>
          <a:lstStyle/>
          <a:p>
            <a:pPr>
              <a:defRPr sz="1100">
                <a:solidFill>
                  <a:srgbClr val="6B728C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EEEEEE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B728C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100">
              <a:latin typeface="Calibri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shows the number driving everything else in this deck: Day-7 retention dropped from 48% to 39% after the streak redesign shipped. That's not a broad, diffuse decline — it concentrates specifically in users who break their streak in week 1, and missing two days in a row nearly doubles their churn. We're not guessing at why, either: seven of the ten NPS comments we reviewed independently named the punishing streak reset as the reason they disengaged or uninstalled. Before we move on, I want you to leave this slide with one thing — this is a specific, identifiable segment causing a specific, measurable drop, not a vague engagement problem.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Here's what's changed since we last talked about this: we didn't just plan the Comeback screen, we built a working version of it and ran a controlled test against a live cohort. In that week-five test, the comeback variant hit 76% Day-7 retention against 46% for control, and that gap held at Day-30 too — 36% versus 22%. That's the shift I want you to take away: we've moved from a hypothesis you approved in principle to a real, measured signal. The question in front of you today isn't whether to believe in this anymore, it's what to do with evidence that's real but still based on a small sample.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draws a hard line around what we're actually proposing, because I don't want you to leave here thinking the ask is bigger than it is. The proposal is to fund a larger-sample validation test of the Comeback screen next sprint, targeted specifically at the users who break their streak — the same segment from slide one. What it isn't: it's not a full rollout, and it's also not asking you to shelve the idea and wait indefinitely. The one thing I want you to take away from this slide is that distinction — we're asking for a bigger test, not a bet-the-quarter rollout decision.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where I want to ground everything I've said in something you can actually see and hear, not just numbers I'm asserting. On the qualitative side, real users told us this directly — one wrote that “the moment I lost my streak the whole thing lost its meaning,” and others explicitly asked for exactly the kind of streak-recovery mechanic we've now built. On the quantitative side, the four numbers that matter are the weeks 1-through-4 retention decline, the nearly doubled churn for users who break their streak, the week-5 variant lift, and the comeback message's open rate climbing from 28% to 56% while control stayed flat at 4%. What I want you to take away here is that this isn't one number I'm leaning on — it's the same story showing up in what people said and in what they actually did.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is about sequencing, not certainty, because I don't have a finished timeline to hand you yet. The first milestone is Raj sizing the engineering lift for a larger test, and that estimate doesn't exist yet — I'm not going to pretend it does. The two risks here are real in both directions: scaling now risks committing to a lift number that could be much smaller than today's 30-point headline once we test at scale, while waiting means we keep bleeding retention at 39% in the meantime. I want you to leave this slide understanding that the plan is deliberately staged — size, then test, then decide — not because we're being slow, but because a 50-person pilot isn't a rollout decision.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actual ask, and I want to be plain about it. First, approve sizing this into next sprint so we can run the bigger test — that's a go-ahead to size and test, not a rollout approval. Second, I need two decisions that are yours specifically, not something the team can research its way to: whether the streak-freeze is free or paywalled, and whether we accept the trade-off that softening the reset might reduce what currently motivates our highest-stakes streak owners. One thing I can't give you today is a rollout timeline — that depends on Raj's estimate, which depends on you saying yes to the first ask. What I want you to leave with is a yes on sizing the test and a decision on those two open calls, not a signature on a launch date that doesn't exist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ADCFC"/>
                </a:solidFill>
                <a:latin typeface="Calibri"/>
              </a:rPr>
              <a:t>STREAKLY COMEBACK SCREEN · QUARTERLY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FFFFFF"/>
                </a:solidFill>
                <a:latin typeface="Cambria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11680"/>
            <a:ext cx="548640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0" b="1" i="0">
                <a:solidFill>
                  <a:srgbClr val="FF6B4A"/>
                </a:solidFill>
                <a:latin typeface="Cambria"/>
              </a:rPr>
              <a:t>39%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977639"/>
            <a:ext cx="5486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CADCFC"/>
                </a:solidFill>
                <a:latin typeface="Calibri"/>
              </a:rPr>
              <a:t>Day-7 retention — down from 48%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2057400"/>
            <a:ext cx="5120640" cy="3291840"/>
          </a:xfrm>
          <a:prstGeom prst="roundRect">
            <a:avLst>
              <a:gd name="adj" fmla="val 12000"/>
            </a:avLst>
          </a:prstGeom>
          <a:solidFill>
            <a:srgbClr val="2833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12280" y="2331720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6B4A"/>
                </a:solidFill>
                <a:latin typeface="Calibri"/>
              </a:rPr>
              <a:t>THE INSIGHT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12280" y="2743200"/>
            <a:ext cx="448056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FFFFFF"/>
                </a:solidFill>
                <a:latin typeface="Calibri"/>
              </a:rPr>
              <a:t>The drop concentrates in users who break their streak in week 1 — missing two days in a row nearly doubles churn.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FFFFFF"/>
                </a:solidFill>
                <a:latin typeface="Calibri"/>
              </a:rPr>
              <a:t>Confirmed independently by real user voice: 7 of 10 NPS comments name the punishing streak reset as their reason for leaving.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E2761"/>
                </a:solidFill>
                <a:latin typeface="Calibri"/>
              </a:rPr>
              <a:t>WHY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1E2761"/>
                </a:solidFill>
                <a:latin typeface="Cambria"/>
              </a:rPr>
              <a:t>What Changed, What We Learned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00200"/>
            <a:ext cx="4846320" cy="4206240"/>
          </a:xfrm>
          <a:prstGeom prst="roundRect">
            <a:avLst>
              <a:gd name="adj" fmla="val 12000"/>
            </a:avLst>
          </a:prstGeom>
          <a:solidFill>
            <a:srgbClr val="F2F4FA"/>
          </a:solidFill>
          <a:ln>
            <a:noFill/>
          </a:ln>
          <a:effectLst/>
          <a:effectLst>
            <a:outerShdw blurRad="90000" dist="30000" dir="5400000" rotWithShape="0">
              <a:srgbClr val="1E2761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74519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6B4A"/>
                </a:solidFill>
                <a:latin typeface="Calibri"/>
              </a:rPr>
              <a:t>WHAT CHANGED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286000"/>
            <a:ext cx="420624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 i="0">
                <a:solidFill>
                  <a:srgbClr val="2B2222"/>
                </a:solidFill>
                <a:latin typeface="Calibri"/>
              </a:rPr>
              <a:t>We didn't just plan the Comeback screen — we shipped a working prototype and ran it as a controlled test against a live cohort, not just a hypothesis anymore.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0" y="1600200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6B4A"/>
                </a:solidFill>
                <a:latin typeface="Calibri"/>
              </a:rPr>
              <a:t>WHAT WE LEARNED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5669280" y="2011680"/>
          <a:ext cx="5943600" cy="35661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669280" y="5806440"/>
            <a:ext cx="5943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6B728C"/>
                </a:solidFill>
                <a:latin typeface="Calibri"/>
              </a:rPr>
              <a:t>The gap holds at Day-30 too — we've moved from a hypothesis to a measured signal.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E2761"/>
                </a:solidFill>
                <a:latin typeface="Calibri"/>
              </a:rPr>
              <a:t>THE PROPOSAL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1E2761"/>
                </a:solidFill>
                <a:latin typeface="Cambria"/>
              </a:rPr>
              <a:t>What It Is, What It Isn't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5394960" cy="3566160"/>
          </a:xfrm>
          <a:prstGeom prst="roundRect">
            <a:avLst>
              <a:gd name="adj" fmla="val 12000"/>
            </a:avLst>
          </a:prstGeom>
          <a:solidFill>
            <a:srgbClr val="FFEEE9"/>
          </a:solidFill>
          <a:ln>
            <a:noFill/>
          </a:ln>
          <a:effectLst/>
          <a:effectLst>
            <a:outerShdw blurRad="90000" dist="30000" dir="5400000" rotWithShape="0">
              <a:srgbClr val="1E2761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6596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6B4A"/>
                </a:solidFill>
                <a:latin typeface="Calibri"/>
              </a:rPr>
              <a:t>WHAT IT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423160"/>
            <a:ext cx="475488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indent="-201168" marL="201168">
              <a:spcAft>
                <a:spcPts val="1400"/>
              </a:spcAft>
              <a:buChar char="•"/>
            </a:pPr>
            <a:r>
              <a:rPr sz="1700">
                <a:solidFill>
                  <a:srgbClr val="2B2222"/>
                </a:solidFill>
                <a:latin typeface="Calibri"/>
              </a:rPr>
              <a:t>Fund a larger-sample validation test of the Comeback screen, next sprint.</a:t>
            </a:r>
          </a:p>
          <a:p>
            <a:pPr indent="-201168" marL="201168">
              <a:spcAft>
                <a:spcPts val="1400"/>
              </a:spcAft>
              <a:buChar char="•"/>
            </a:pPr>
            <a:r>
              <a:rPr sz="1700">
                <a:solidFill>
                  <a:srgbClr val="2B2222"/>
                </a:solidFill>
                <a:latin typeface="Calibri"/>
              </a:rPr>
              <a:t>Targeted specifically at users who break their streak in week 1.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737360"/>
            <a:ext cx="5394960" cy="3566160"/>
          </a:xfrm>
          <a:prstGeom prst="roundRect">
            <a:avLst>
              <a:gd name="adj" fmla="val 12000"/>
            </a:avLst>
          </a:prstGeom>
          <a:solidFill>
            <a:srgbClr val="F2F4FA"/>
          </a:solidFill>
          <a:ln>
            <a:noFill/>
          </a:ln>
          <a:effectLst/>
          <a:effectLst>
            <a:outerShdw blurRad="90000" dist="30000" dir="5400000" rotWithShape="0">
              <a:srgbClr val="1E2761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96596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6B728C"/>
                </a:solidFill>
                <a:latin typeface="Calibri"/>
              </a:rPr>
              <a:t>WHAT IT ISN'T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423160"/>
            <a:ext cx="475488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indent="-201168" marL="201168">
              <a:spcAft>
                <a:spcPts val="1400"/>
              </a:spcAft>
              <a:buChar char="•"/>
            </a:pPr>
            <a:r>
              <a:rPr sz="1700">
                <a:solidFill>
                  <a:srgbClr val="2B2222"/>
                </a:solidFill>
                <a:latin typeface="Calibri"/>
              </a:rPr>
              <a:t>Not a full rollout — the test comes first.</a:t>
            </a:r>
          </a:p>
          <a:p>
            <a:pPr indent="-201168" marL="201168">
              <a:spcAft>
                <a:spcPts val="1400"/>
              </a:spcAft>
              <a:buChar char="•"/>
            </a:pPr>
            <a:r>
              <a:rPr sz="1700">
                <a:solidFill>
                  <a:srgbClr val="2B2222"/>
                </a:solidFill>
                <a:latin typeface="Calibri"/>
              </a:rPr>
              <a:t>Not shelving the idea while we wait, either.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62356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6B728C"/>
                </a:solidFill>
                <a:latin typeface="Calibri"/>
              </a:rPr>
              <a:t>For context — the underlying feature: a welcome-back message, personalized stats, and a streak-connect pass, replacing today's cold reset.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E2761"/>
                </a:solidFill>
                <a:latin typeface="Calibri"/>
              </a:rPr>
              <a:t>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1E2761"/>
                </a:solidFill>
                <a:latin typeface="Cambria"/>
              </a:rPr>
              <a:t>Prototype, User Quotes, and Data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5394960" cy="2148840"/>
          </a:xfrm>
          <a:prstGeom prst="roundRect">
            <a:avLst>
              <a:gd name="adj" fmla="val 12000"/>
            </a:avLst>
          </a:prstGeom>
          <a:solidFill>
            <a:srgbClr val="F2F4FA"/>
          </a:solidFill>
          <a:ln>
            <a:noFill/>
          </a:ln>
          <a:effectLst/>
          <a:effectLst>
            <a:outerShdw blurRad="90000" dist="30000" dir="5400000" rotWithShape="0">
              <a:srgbClr val="1E2761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20240"/>
            <a:ext cx="4754880" cy="1417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1">
                <a:solidFill>
                  <a:srgbClr val="1E2761"/>
                </a:solidFill>
                <a:latin typeface="Cambria"/>
              </a:rPr>
              <a:t>“The moment I lost my streak the whole thing lost its meaning.”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42900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6B728C"/>
                </a:solidFill>
                <a:latin typeface="Calibri"/>
              </a:rPr>
              <a:t>— NPS respondent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737360"/>
            <a:ext cx="5394960" cy="2148840"/>
          </a:xfrm>
          <a:prstGeom prst="roundRect">
            <a:avLst>
              <a:gd name="adj" fmla="val 12000"/>
            </a:avLst>
          </a:prstGeom>
          <a:solidFill>
            <a:srgbClr val="F2F4FA"/>
          </a:solidFill>
          <a:ln>
            <a:noFill/>
          </a:ln>
          <a:effectLst/>
          <a:effectLst>
            <a:outerShdw blurRad="90000" dist="30000" dir="5400000" rotWithShape="0">
              <a:srgbClr val="1E2761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64807" y="1938528"/>
            <a:ext cx="4992624" cy="118186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FF6B4A"/>
                </a:solidFill>
                <a:latin typeface="Cambria"/>
              </a:rPr>
              <a:t>45.8%  vs.  26.8%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64807" y="2919222"/>
            <a:ext cx="4992624" cy="859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6B728C"/>
                </a:solidFill>
                <a:latin typeface="Calibri"/>
              </a:rPr>
              <a:t>Day-7 retention: kept streak vs. broke it — breaking nearly doubles churn risk.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069080"/>
            <a:ext cx="5394960" cy="2148840"/>
          </a:xfrm>
          <a:prstGeom prst="roundRect">
            <a:avLst>
              <a:gd name="adj" fmla="val 12000"/>
            </a:avLst>
          </a:prstGeom>
          <a:solidFill>
            <a:srgbClr val="F2F4FA"/>
          </a:solidFill>
          <a:ln>
            <a:noFill/>
          </a:ln>
          <a:effectLst/>
          <a:effectLst>
            <a:outerShdw blurRad="90000" dist="30000" dir="5400000" rotWithShape="0">
              <a:srgbClr val="1E2761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4270248"/>
            <a:ext cx="4992624" cy="118186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1E2761"/>
                </a:solidFill>
                <a:latin typeface="Cambria"/>
              </a:rPr>
              <a:t>37%  →  27%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5250942"/>
            <a:ext cx="4992624" cy="859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6B728C"/>
                </a:solidFill>
                <a:latin typeface="Calibri"/>
              </a:rPr>
              <a:t>Day-7 retention across cohort weeks 1-4.</a:t>
            </a:r>
          </a:p>
        </p:txBody>
      </p:sp>
      <p:graphicFrame>
        <p:nvGraphicFramePr>
          <p:cNvPr id="14" name="Chart 13"/>
          <p:cNvGraphicFramePr>
            <a:graphicFrameLocks noGrp="1"/>
          </p:cNvGraphicFramePr>
          <p:nvPr/>
        </p:nvGraphicFramePr>
        <p:xfrm>
          <a:off x="6263640" y="4069080"/>
          <a:ext cx="5394960" cy="21488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E2761"/>
                </a:solidFill>
                <a:latin typeface="Calibri"/>
              </a:rPr>
              <a:t>THE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1E2761"/>
                </a:solidFill>
                <a:latin typeface="Cambria"/>
              </a:rPr>
              <a:t>Milestones, Risks, and What's Still Open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91640"/>
            <a:ext cx="5257800" cy="1188720"/>
          </a:xfrm>
          <a:prstGeom prst="roundRect">
            <a:avLst>
              <a:gd name="adj" fmla="val 12000"/>
            </a:avLst>
          </a:prstGeom>
          <a:solidFill>
            <a:srgbClr val="F2F4FA"/>
          </a:solidFill>
          <a:ln>
            <a:noFill/>
          </a:ln>
          <a:effectLst/>
          <a:effectLst>
            <a:outerShdw blurRad="90000" dist="30000" dir="5400000" rotWithShape="0">
              <a:srgbClr val="1E2761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6B4A"/>
                </a:solidFill>
                <a:latin typeface="Calibri"/>
              </a:rPr>
              <a:t>MILESTONE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48840"/>
            <a:ext cx="47548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222"/>
                </a:solidFill>
                <a:latin typeface="Calibri"/>
              </a:rPr>
              <a:t>Raj sizes the engineering lift — not yet estimated.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97880" y="2103120"/>
            <a:ext cx="640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1" i="0">
                <a:solidFill>
                  <a:srgbClr val="6B728C"/>
                </a:solidFill>
                <a:latin typeface="Calibri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691640"/>
            <a:ext cx="5257800" cy="1188720"/>
          </a:xfrm>
          <a:prstGeom prst="roundRect">
            <a:avLst>
              <a:gd name="adj" fmla="val 12000"/>
            </a:avLst>
          </a:prstGeom>
          <a:solidFill>
            <a:srgbClr val="F2F4FA"/>
          </a:solidFill>
          <a:ln>
            <a:noFill/>
          </a:ln>
          <a:effectLst/>
          <a:effectLst>
            <a:outerShdw blurRad="90000" dist="30000" dir="5400000" rotWithShape="0">
              <a:srgbClr val="1E2761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1828800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6B4A"/>
                </a:solidFill>
                <a:latin typeface="Calibri"/>
              </a:rPr>
              <a:t>MILESTONE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148840"/>
            <a:ext cx="47548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222"/>
                </a:solidFill>
                <a:latin typeface="Calibri"/>
              </a:rPr>
              <a:t>Run the larger-sample test, next sprint.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154680"/>
            <a:ext cx="5257800" cy="1691640"/>
          </a:xfrm>
          <a:prstGeom prst="roundRect">
            <a:avLst>
              <a:gd name="adj" fmla="val 12000"/>
            </a:avLst>
          </a:prstGeom>
          <a:solidFill>
            <a:srgbClr val="FFEEE9"/>
          </a:solidFill>
          <a:ln>
            <a:noFill/>
          </a:ln>
          <a:effectLst/>
          <a:effectLst>
            <a:outerShdw blurRad="90000" dist="30000" dir="5400000" rotWithShape="0">
              <a:srgbClr val="1E2761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291840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6B4A"/>
                </a:solidFill>
                <a:latin typeface="Calibri"/>
              </a:rPr>
              <a:t>RISK OF SCALING NOW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657600"/>
            <a:ext cx="47548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2B2222"/>
                </a:solidFill>
                <a:latin typeface="Calibri"/>
              </a:rPr>
              <a:t>Committing to a lift that could be far smaller than today's 30-point headline once tested at scale.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3154680"/>
            <a:ext cx="5257800" cy="1691640"/>
          </a:xfrm>
          <a:prstGeom prst="roundRect">
            <a:avLst>
              <a:gd name="adj" fmla="val 12000"/>
            </a:avLst>
          </a:prstGeom>
          <a:solidFill>
            <a:srgbClr val="F2F4FA"/>
          </a:solidFill>
          <a:ln>
            <a:noFill/>
          </a:ln>
          <a:effectLst/>
          <a:effectLst>
            <a:outerShdw blurRad="90000" dist="30000" dir="5400000" rotWithShape="0">
              <a:srgbClr val="1E2761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0" y="3291840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6B728C"/>
                </a:solidFill>
                <a:latin typeface="Calibri"/>
              </a:rPr>
              <a:t>RISK OF WAITING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3657600"/>
            <a:ext cx="47548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2B2222"/>
                </a:solidFill>
                <a:latin typeface="Calibri"/>
              </a:rPr>
              <a:t>Continued churn at 39% Day-7 retention while we validate.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074920"/>
            <a:ext cx="11109960" cy="11430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525780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1">
                <a:solidFill>
                  <a:srgbClr val="FFFFFF"/>
                </a:solidFill>
                <a:latin typeface="Calibri"/>
              </a:rPr>
              <a:t>Caveat, carried forward, not smoothed over: n = 50 per arm, and part of the topline lift isn't yet isolated as attributable to the screen itself.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ADCFC"/>
                </a:solidFill>
                <a:latin typeface="Calibri"/>
              </a:rPr>
              <a:t>STREAKLY COMEBACK SCREEN · QUARTERLY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FFFFFF"/>
                </a:solidFill>
                <a:latin typeface="Cambria"/>
              </a:rPr>
              <a:t>The Ask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1965960"/>
            <a:ext cx="594360" cy="594360"/>
          </a:xfrm>
          <a:prstGeom prst="ellipse">
            <a:avLst/>
          </a:prstGeom>
          <a:solidFill>
            <a:srgbClr val="F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1920240"/>
            <a:ext cx="9875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Cambria"/>
              </a:rPr>
              <a:t>Approve sizing this into next sprint.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2404872"/>
            <a:ext cx="9875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CADCFC"/>
                </a:solidFill>
                <a:latin typeface="Calibri"/>
              </a:rPr>
              <a:t>A go-ahead to size and test — not a rollout approval.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383280"/>
            <a:ext cx="594360" cy="594360"/>
          </a:xfrm>
          <a:prstGeom prst="ellipse">
            <a:avLst/>
          </a:prstGeom>
          <a:solidFill>
            <a:srgbClr val="F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3337560"/>
            <a:ext cx="9875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Cambria"/>
              </a:rPr>
              <a:t>Decide two calls that are yours, not the team's.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3822191"/>
            <a:ext cx="9875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CADCFC"/>
                </a:solidFill>
                <a:latin typeface="Calibri"/>
              </a:rPr>
              <a:t>Free vs. paywalled streak-freeze, and whether to accept the streak-intensity trade-off.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800600"/>
            <a:ext cx="594360" cy="594360"/>
          </a:xfrm>
          <a:prstGeom prst="ellipse">
            <a:avLst/>
          </a:prstGeom>
          <a:solidFill>
            <a:srgbClr val="F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4754880"/>
            <a:ext cx="9875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Cambria"/>
              </a:rPr>
              <a:t>Not answered today: a rollout timeline.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5239512"/>
            <a:ext cx="9875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CADCFC"/>
                </a:solidFill>
                <a:latin typeface="Calibri"/>
              </a:rPr>
              <a:t>It depends on Raj's sizing, which depends on ask #1.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